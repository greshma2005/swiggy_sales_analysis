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801A"/>
    <a:srgbClr val="C14E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310" autoAdjust="0"/>
  </p:normalViewPr>
  <p:slideViewPr>
    <p:cSldViewPr snapToGrid="0">
      <p:cViewPr varScale="1">
        <p:scale>
          <a:sx n="79" d="100"/>
          <a:sy n="79" d="100"/>
        </p:scale>
        <p:origin x="594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64B08-FCB8-55B5-0AD7-08256CC1F6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587C1-EC00-D200-51D5-FCEC5CC88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A97F5-531B-0AA8-2162-DFA0A1B52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73E71-6057-A044-2016-C1EF30932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E6AC8-2E09-6ECE-E770-64AC42C24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06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5D46A-F2D0-7AEB-0EAC-5BE0A0E8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A52FA-12ED-91CC-BD8C-7E1D6B614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00F58-F382-BBC7-65E3-8407775AA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FA238-6E24-3C3A-6D21-E796BE4B9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783DD-7D39-C6F0-152C-119942815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26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D19D9-63B5-2F73-0D03-F2172CEF3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74367-9968-B68E-75FD-826DCC641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AD2EE-0CCF-E7B3-C578-5C37E3906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8FC77-8073-6E24-4AB0-A16BB4304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2CCFA-14DE-505C-B9E3-B8FBA844A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110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022B5-BA52-9FDF-F7ED-1DC2ADCA0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E7693-3717-D174-C05B-E501632FD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7AD4A-D2B0-6E21-E5C6-53B601D76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34B1A-0734-6F54-CC73-9B9C8B047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797C6-3AF5-86A6-BCFF-EF720A0DB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9F1F4-7845-80C8-9B91-82AEAE980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284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27F4F-C3C8-998C-09E1-4A467C7D4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80BDE-1F9A-A78A-C21B-BBB1C5FEA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CCD2E-686E-95F8-506F-72B50A462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F43C3-EBB8-FDD9-196A-0CC685EE7C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7AA82-FAB6-76DB-7A94-EE824AE13D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06944E-63C2-FE84-5120-181DA346A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2ED44C-D7FA-C375-C48A-9E53DD196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5291D-B942-5B7D-44CC-90F2D8F1D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774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7B0BB-D529-CF40-EFB3-770BE9878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4A713-CBDE-9324-95ED-99769ED9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46631E-EE67-9B2C-113B-00C179EAA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8430FF-68B3-EDDE-E008-7566794F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102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6B3570-B1DA-9308-FE16-37DA0110A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CF8077-7A82-8F92-DEFA-A37ADC85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C9227-264C-6753-77E6-05B2D5B91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062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D37-16D0-4B2C-B51D-E25256F7C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E1E3C-B49E-170D-3D92-33782959B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D2383-EA0B-6456-0BBA-DFF2D3F2A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85459-0ACC-091E-0777-7F71456CF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C83A7-4481-D8B1-E1B0-B951EA888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47248-32CE-E786-F0C7-3C7AABE47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155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2D680-B798-4B17-99FD-EB2E2E948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C742A2-3F27-5931-7947-4E5A60817C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EB2102-2DFF-FB71-B0C9-B303EDF8D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504ED-01E2-422A-806C-D3A80635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B48208-85BA-F3D9-E6E6-10DB2DFF4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E82DF-D4D3-32DC-C8A4-082228351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960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732B2-31D6-CBF7-8C76-96BB890B2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97C17-F85C-A605-BA36-C8455E0B6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93169-2526-94FB-F49B-137009A19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877E-2BE4-5D4C-75FF-4D23114B3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6AD8A-3AEC-4397-BFA7-E4D290155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603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EFFF57-FCD7-C9CD-C57D-0C52DDF54E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8A3645-CEEB-CD5A-D3E2-E653196BE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C2B10-3CED-594C-E4AC-1439255AA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7677B-932E-DABA-DE99-973E3D93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94CBA-1D16-450C-5622-A896DB013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401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5BE370-A662-F0FE-BB59-27F0C3F2F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A26F5-47AE-DCC3-0FF0-A32B79B51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23013-F326-2310-03AB-AEAC10C9CA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60510E-4004-4B15-ADB1-176997898CB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20B23-8820-D836-C6C1-045BBF173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EC85A-B6C6-C5B7-8567-AC0086A845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64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0FB292-6E05-B6FB-7CB5-901253EC5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EEAD33-3072-985D-D834-C946D990C7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538411-D1F3-6E67-64B1-6823B403B4AA}"/>
              </a:ext>
            </a:extLst>
          </p:cNvPr>
          <p:cNvSpPr txBox="1"/>
          <p:nvPr/>
        </p:nvSpPr>
        <p:spPr>
          <a:xfrm>
            <a:off x="238125" y="1031458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tx1"/>
                </a:solidFill>
                <a:highlight>
                  <a:srgbClr val="FFFF00"/>
                </a:highlight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58765F-F470-D839-DF38-742EDC4D78AA}"/>
              </a:ext>
            </a:extLst>
          </p:cNvPr>
          <p:cNvSpPr txBox="1"/>
          <p:nvPr/>
        </p:nvSpPr>
        <p:spPr>
          <a:xfrm>
            <a:off x="238125" y="1781175"/>
            <a:ext cx="3629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kern="100" dirty="0">
                <a:solidFill>
                  <a:schemeClr val="bg1"/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</a:t>
            </a:r>
            <a:r>
              <a:rPr lang="en-IN" sz="3200" b="1" u="sng" kern="100" dirty="0">
                <a:solidFill>
                  <a:schemeClr val="bg1"/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KPI’s</a:t>
            </a:r>
            <a:endParaRPr lang="en-IN" sz="3200" kern="100" dirty="0">
              <a:solidFill>
                <a:schemeClr val="bg1"/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CE9B8B-2D62-6FC5-F533-51B277FAA9AA}"/>
              </a:ext>
            </a:extLst>
          </p:cNvPr>
          <p:cNvSpPr txBox="1"/>
          <p:nvPr/>
        </p:nvSpPr>
        <p:spPr>
          <a:xfrm>
            <a:off x="238125" y="2524125"/>
            <a:ext cx="10248900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(₹)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Overall revenue generated from food orders.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Rating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Customer satisfaction level across all restaurants.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Order Value (₹)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Revenue per order.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Ratings Count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Total number of customer reviews.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Orders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Number of food orders received.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FAB0FD-ADA4-7DAC-2252-1C31E9B304AB}"/>
              </a:ext>
            </a:extLst>
          </p:cNvPr>
          <p:cNvSpPr/>
          <p:nvPr/>
        </p:nvSpPr>
        <p:spPr>
          <a:xfrm>
            <a:off x="0" y="5367"/>
            <a:ext cx="12192000" cy="826325"/>
          </a:xfrm>
          <a:prstGeom prst="rect">
            <a:avLst/>
          </a:prstGeom>
          <a:solidFill>
            <a:schemeClr val="tx2">
              <a:lumMod val="90000"/>
              <a:lumOff val="10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 descr="A black background with orange letters&#10;&#10;AI-generated content may be incorrect.">
            <a:extLst>
              <a:ext uri="{FF2B5EF4-FFF2-40B4-BE49-F238E27FC236}">
                <a16:creationId xmlns:a16="http://schemas.microsoft.com/office/drawing/2014/main" id="{A212D835-CC4C-D1E5-66E2-0FF7827106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848" y="0"/>
            <a:ext cx="2836304" cy="826325"/>
          </a:xfrm>
          <a:prstGeom prst="rect">
            <a:avLst/>
          </a:prstGeom>
        </p:spPr>
      </p:pic>
      <p:pic>
        <p:nvPicPr>
          <p:cNvPr id="1029" name="Picture 5" descr="Swiggy Social Media Case Study - Starthunt Campaign on TikTok">
            <a:extLst>
              <a:ext uri="{FF2B5EF4-FFF2-40B4-BE49-F238E27FC236}">
                <a16:creationId xmlns:a16="http://schemas.microsoft.com/office/drawing/2014/main" id="{B8E4B458-AA41-003B-5F6F-2EFEF4D74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5" y="-41354"/>
            <a:ext cx="1092994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3714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AF176-DF1F-192A-9708-9DBE50139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FA51EC-DFC2-799E-764B-1B8E945A7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B6CC2A-4F97-69E5-4BE4-A1DDAB8D0D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5C837F-3A3E-C158-7E72-027D567ECE72}"/>
              </a:ext>
            </a:extLst>
          </p:cNvPr>
          <p:cNvSpPr txBox="1"/>
          <p:nvPr/>
        </p:nvSpPr>
        <p:spPr>
          <a:xfrm>
            <a:off x="238125" y="1031458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tx1"/>
                </a:solidFill>
                <a:highlight>
                  <a:srgbClr val="FFFF00"/>
                </a:highlight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8C2EA6-5D3A-EE8F-F1B1-A0EF9A3048FB}"/>
              </a:ext>
            </a:extLst>
          </p:cNvPr>
          <p:cNvSpPr txBox="1"/>
          <p:nvPr/>
        </p:nvSpPr>
        <p:spPr>
          <a:xfrm>
            <a:off x="238125" y="1781175"/>
            <a:ext cx="3629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kern="100" dirty="0">
                <a:solidFill>
                  <a:schemeClr val="bg1"/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</a:t>
            </a:r>
            <a:r>
              <a:rPr lang="en-IN" sz="3200" b="1" u="sng" kern="100" dirty="0">
                <a:solidFill>
                  <a:schemeClr val="bg1"/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CHART’S</a:t>
            </a:r>
            <a:endParaRPr lang="en-IN" sz="3200" kern="100" dirty="0">
              <a:solidFill>
                <a:schemeClr val="bg1"/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AD5524-C68E-88FE-2EBF-F169E406EE2F}"/>
              </a:ext>
            </a:extLst>
          </p:cNvPr>
          <p:cNvSpPr txBox="1"/>
          <p:nvPr/>
        </p:nvSpPr>
        <p:spPr>
          <a:xfrm>
            <a:off x="238124" y="2524125"/>
            <a:ext cx="11706225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Sales Trend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Shows how total sales fluctuate month by month.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Sales Trend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Highlights order and revenue variations across days of the week.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by Food Type (Veg vs Non-Veg)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Compares revenue contribution by cuisine type.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by State (Map Visualization)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Displays state-wise revenue distribution.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Quarterly Performance Summary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Combines Sales, Ratings, and Orders by Quarter.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Cities by Sales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Identifies leading cities contributing the most revenue.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Trend Analysis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Monitors weekly fluctuations in sales to identify consistency or peak periods.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0EBFD6-ADFC-D753-A7B3-49669D014C20}"/>
              </a:ext>
            </a:extLst>
          </p:cNvPr>
          <p:cNvSpPr/>
          <p:nvPr/>
        </p:nvSpPr>
        <p:spPr>
          <a:xfrm>
            <a:off x="0" y="5367"/>
            <a:ext cx="12192000" cy="826325"/>
          </a:xfrm>
          <a:prstGeom prst="rect">
            <a:avLst/>
          </a:prstGeom>
          <a:solidFill>
            <a:schemeClr val="tx2">
              <a:lumMod val="90000"/>
              <a:lumOff val="10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 descr="A black background with orange letters&#10;&#10;AI-generated content may be incorrect.">
            <a:extLst>
              <a:ext uri="{FF2B5EF4-FFF2-40B4-BE49-F238E27FC236}">
                <a16:creationId xmlns:a16="http://schemas.microsoft.com/office/drawing/2014/main" id="{FB4A3C7D-D868-AFCD-AD47-9399E3CCC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848" y="0"/>
            <a:ext cx="2836304" cy="826325"/>
          </a:xfrm>
          <a:prstGeom prst="rect">
            <a:avLst/>
          </a:prstGeom>
        </p:spPr>
      </p:pic>
      <p:pic>
        <p:nvPicPr>
          <p:cNvPr id="1029" name="Picture 5" descr="Swiggy Social Media Case Study - Starthunt Campaign on TikTok">
            <a:extLst>
              <a:ext uri="{FF2B5EF4-FFF2-40B4-BE49-F238E27FC236}">
                <a16:creationId xmlns:a16="http://schemas.microsoft.com/office/drawing/2014/main" id="{29B4B6D0-83D7-32BA-1EC7-32E599135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5" y="-41354"/>
            <a:ext cx="1092994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294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3082</TotalTime>
  <Words>166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Lato Black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Swapnjeet S</dc:creator>
  <cp:lastModifiedBy>Gunturu Reshma</cp:lastModifiedBy>
  <cp:revision>5</cp:revision>
  <dcterms:created xsi:type="dcterms:W3CDTF">2025-11-10T15:38:41Z</dcterms:created>
  <dcterms:modified xsi:type="dcterms:W3CDTF">2026-04-13T08:51:13Z</dcterms:modified>
</cp:coreProperties>
</file>